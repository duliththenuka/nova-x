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Roboto" charset="1" panose="02000000000000000000"/>
      <p:regular r:id="rId18"/>
    </p:embeddedFont>
    <p:embeddedFont>
      <p:font typeface="Roboto Bold" charset="1" panose="02000000000000000000"/>
      <p:regular r:id="rId19"/>
    </p:embeddedFont>
    <p:embeddedFont>
      <p:font typeface="Canva Sans Bold" charset="1" panose="020B0803030501040103"/>
      <p:regular r:id="rId20"/>
    </p:embeddedFont>
    <p:embeddedFont>
      <p:font typeface="Canva Sans" charset="1" panose="020B0503030501040103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8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9.png" Type="http://schemas.openxmlformats.org/officeDocument/2006/relationships/image"/><Relationship Id="rId9" Target="../media/image10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11.png" Type="http://schemas.openxmlformats.org/officeDocument/2006/relationships/image"/><Relationship Id="rId9" Target="../media/image1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13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6.png" Type="http://schemas.openxmlformats.org/officeDocument/2006/relationships/image"/><Relationship Id="rId11" Target="../media/image17.svg" Type="http://schemas.openxmlformats.org/officeDocument/2006/relationships/image"/><Relationship Id="rId12" Target="../media/image18.png" Type="http://schemas.openxmlformats.org/officeDocument/2006/relationships/image"/><Relationship Id="rId13" Target="../media/image19.svg" Type="http://schemas.openxmlformats.org/officeDocument/2006/relationships/image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14.png" Type="http://schemas.openxmlformats.org/officeDocument/2006/relationships/image"/><Relationship Id="rId9" Target="../media/image15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20.png" Type="http://schemas.openxmlformats.org/officeDocument/2006/relationships/image"/><Relationship Id="rId9" Target="../media/image10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2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51B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697147" y="4171690"/>
            <a:ext cx="10173221" cy="10173221"/>
          </a:xfrm>
          <a:custGeom>
            <a:avLst/>
            <a:gdLst/>
            <a:ahLst/>
            <a:cxnLst/>
            <a:rect r="r" b="b" t="t" l="l"/>
            <a:pathLst>
              <a:path h="10173221" w="10173221">
                <a:moveTo>
                  <a:pt x="0" y="0"/>
                </a:moveTo>
                <a:lnTo>
                  <a:pt x="10173221" y="0"/>
                </a:lnTo>
                <a:lnTo>
                  <a:pt x="10173221" y="10173220"/>
                </a:lnTo>
                <a:lnTo>
                  <a:pt x="0" y="101732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476194" y="752756"/>
            <a:ext cx="17011089" cy="17011089"/>
          </a:xfrm>
          <a:custGeom>
            <a:avLst/>
            <a:gdLst/>
            <a:ahLst/>
            <a:cxnLst/>
            <a:rect r="r" b="b" t="t" l="l"/>
            <a:pathLst>
              <a:path h="17011089" w="17011089">
                <a:moveTo>
                  <a:pt x="0" y="0"/>
                </a:moveTo>
                <a:lnTo>
                  <a:pt x="17011089" y="0"/>
                </a:lnTo>
                <a:lnTo>
                  <a:pt x="17011089" y="17011088"/>
                </a:lnTo>
                <a:lnTo>
                  <a:pt x="0" y="170110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8188432" y="-9703875"/>
            <a:ext cx="16376864" cy="16376864"/>
          </a:xfrm>
          <a:custGeom>
            <a:avLst/>
            <a:gdLst/>
            <a:ahLst/>
            <a:cxnLst/>
            <a:rect r="r" b="b" t="t" l="l"/>
            <a:pathLst>
              <a:path h="16376864" w="16376864">
                <a:moveTo>
                  <a:pt x="0" y="0"/>
                </a:moveTo>
                <a:lnTo>
                  <a:pt x="16376864" y="0"/>
                </a:lnTo>
                <a:lnTo>
                  <a:pt x="16376864" y="16376864"/>
                </a:lnTo>
                <a:lnTo>
                  <a:pt x="0" y="1637686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1081790" y="2579910"/>
            <a:ext cx="6177510" cy="6678390"/>
          </a:xfrm>
          <a:custGeom>
            <a:avLst/>
            <a:gdLst/>
            <a:ahLst/>
            <a:cxnLst/>
            <a:rect r="r" b="b" t="t" l="l"/>
            <a:pathLst>
              <a:path h="6678390" w="6177510">
                <a:moveTo>
                  <a:pt x="0" y="0"/>
                </a:moveTo>
                <a:lnTo>
                  <a:pt x="6177510" y="0"/>
                </a:lnTo>
                <a:lnTo>
                  <a:pt x="6177510" y="6678390"/>
                </a:lnTo>
                <a:lnTo>
                  <a:pt x="0" y="667839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9223892" y="1476235"/>
            <a:ext cx="1137396" cy="47625"/>
            <a:chOff x="0" y="0"/>
            <a:chExt cx="299561" cy="1254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99561" cy="12543"/>
            </a:xfrm>
            <a:custGeom>
              <a:avLst/>
              <a:gdLst/>
              <a:ahLst/>
              <a:cxnLst/>
              <a:rect r="r" b="b" t="t" l="l"/>
              <a:pathLst>
                <a:path h="12543" w="299561">
                  <a:moveTo>
                    <a:pt x="0" y="0"/>
                  </a:moveTo>
                  <a:lnTo>
                    <a:pt x="299561" y="0"/>
                  </a:lnTo>
                  <a:lnTo>
                    <a:pt x="299561" y="12543"/>
                  </a:lnTo>
                  <a:lnTo>
                    <a:pt x="0" y="12543"/>
                  </a:lnTo>
                  <a:close/>
                </a:path>
              </a:pathLst>
            </a:custGeom>
            <a:solidFill>
              <a:srgbClr val="47555D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99561" cy="506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512513" y="2187313"/>
            <a:ext cx="7416980" cy="6485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04"/>
              </a:lnSpc>
            </a:pPr>
            <a:r>
              <a:rPr lang="en-US" sz="5113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NOVA-X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614241" y="2875185"/>
            <a:ext cx="9368656" cy="30877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706"/>
              </a:lnSpc>
            </a:pPr>
            <a:r>
              <a:rPr lang="en-US" sz="12453" spc="-323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Smart Spend</a:t>
            </a:r>
          </a:p>
          <a:p>
            <a:pPr algn="l">
              <a:lnSpc>
                <a:spcPts val="11706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795765" y="4567193"/>
            <a:ext cx="9163802" cy="2734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600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Smart Digital Banking &amp; Financial Management Platform</a:t>
            </a:r>
          </a:p>
          <a:p>
            <a:pPr algn="l">
              <a:lnSpc>
                <a:spcPts val="3640"/>
              </a:lnSpc>
            </a:pPr>
          </a:p>
          <a:p>
            <a:pPr algn="l">
              <a:lnSpc>
                <a:spcPts val="3640"/>
              </a:lnSpc>
            </a:pPr>
            <a:r>
              <a:rPr lang="en-US" sz="2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Hackathon Project Submission</a:t>
            </a:r>
          </a:p>
          <a:p>
            <a:pPr algn="l">
              <a:lnSpc>
                <a:spcPts val="3640"/>
              </a:lnSpc>
            </a:pPr>
          </a:p>
          <a:p>
            <a:pPr algn="l">
              <a:lnSpc>
                <a:spcPts val="3640"/>
              </a:lnSpc>
            </a:pPr>
            <a:r>
              <a:rPr lang="en-US" sz="2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Team: Nova X</a:t>
            </a:r>
          </a:p>
          <a:p>
            <a:pPr algn="l">
              <a:lnSpc>
                <a:spcPts val="3640"/>
              </a:lnSpc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10982897" y="845185"/>
            <a:ext cx="1809114" cy="431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About us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077761" y="845185"/>
            <a:ext cx="1809114" cy="431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Service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5172625" y="845185"/>
            <a:ext cx="1809114" cy="431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Contact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888033" y="845185"/>
            <a:ext cx="1809114" cy="431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Home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411310" y="7493422"/>
            <a:ext cx="7218549" cy="2188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6"/>
              </a:lnSpc>
            </a:pPr>
            <a:r>
              <a:rPr lang="en-US" sz="2504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J L D T Fernando-39325</a:t>
            </a:r>
          </a:p>
          <a:p>
            <a:pPr algn="ctr">
              <a:lnSpc>
                <a:spcPts val="3506"/>
              </a:lnSpc>
            </a:pPr>
            <a:r>
              <a:rPr lang="en-US" sz="2504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H W K S Wijerathna-39140</a:t>
            </a:r>
          </a:p>
          <a:p>
            <a:pPr algn="ctr">
              <a:lnSpc>
                <a:spcPts val="3506"/>
              </a:lnSpc>
            </a:pPr>
            <a:r>
              <a:rPr lang="en-US" sz="2504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 C C Oshitha-39244</a:t>
            </a:r>
          </a:p>
          <a:p>
            <a:pPr algn="ctr">
              <a:lnSpc>
                <a:spcPts val="3506"/>
              </a:lnSpc>
            </a:pPr>
            <a:r>
              <a:rPr lang="en-US" sz="2504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 G S Wassana-39323</a:t>
            </a:r>
          </a:p>
          <a:p>
            <a:pPr algn="ctr">
              <a:lnSpc>
                <a:spcPts val="3506"/>
              </a:lnSpc>
              <a:spcBef>
                <a:spcPct val="0"/>
              </a:spcBef>
            </a:pPr>
            <a:r>
              <a:rPr lang="en-US" sz="2504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 A L D Subhasinghe-39256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51B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361288" y="2372581"/>
            <a:ext cx="17011089" cy="17011089"/>
          </a:xfrm>
          <a:custGeom>
            <a:avLst/>
            <a:gdLst/>
            <a:ahLst/>
            <a:cxnLst/>
            <a:rect r="r" b="b" t="t" l="l"/>
            <a:pathLst>
              <a:path h="17011089" w="17011089">
                <a:moveTo>
                  <a:pt x="0" y="0"/>
                </a:moveTo>
                <a:lnTo>
                  <a:pt x="17011089" y="0"/>
                </a:lnTo>
                <a:lnTo>
                  <a:pt x="17011089" y="17011089"/>
                </a:lnTo>
                <a:lnTo>
                  <a:pt x="0" y="1701108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697147" y="2378512"/>
            <a:ext cx="6500361" cy="6500361"/>
          </a:xfrm>
          <a:custGeom>
            <a:avLst/>
            <a:gdLst/>
            <a:ahLst/>
            <a:cxnLst/>
            <a:rect r="r" b="b" t="t" l="l"/>
            <a:pathLst>
              <a:path h="6500361" w="6500361">
                <a:moveTo>
                  <a:pt x="0" y="0"/>
                </a:moveTo>
                <a:lnTo>
                  <a:pt x="6500361" y="0"/>
                </a:lnTo>
                <a:lnTo>
                  <a:pt x="6500361" y="6500360"/>
                </a:lnTo>
                <a:lnTo>
                  <a:pt x="0" y="650036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18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8107955" y="-9492011"/>
            <a:ext cx="16376864" cy="16376864"/>
          </a:xfrm>
          <a:custGeom>
            <a:avLst/>
            <a:gdLst/>
            <a:ahLst/>
            <a:cxnLst/>
            <a:rect r="r" b="b" t="t" l="l"/>
            <a:pathLst>
              <a:path h="16376864" w="16376864">
                <a:moveTo>
                  <a:pt x="0" y="0"/>
                </a:moveTo>
                <a:lnTo>
                  <a:pt x="16376863" y="0"/>
                </a:lnTo>
                <a:lnTo>
                  <a:pt x="16376863" y="16376864"/>
                </a:lnTo>
                <a:lnTo>
                  <a:pt x="0" y="1637686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129803" y="3320517"/>
            <a:ext cx="7129497" cy="4616349"/>
          </a:xfrm>
          <a:custGeom>
            <a:avLst/>
            <a:gdLst/>
            <a:ahLst/>
            <a:cxnLst/>
            <a:rect r="r" b="b" t="t" l="l"/>
            <a:pathLst>
              <a:path h="4616349" w="7129497">
                <a:moveTo>
                  <a:pt x="0" y="0"/>
                </a:moveTo>
                <a:lnTo>
                  <a:pt x="7129497" y="0"/>
                </a:lnTo>
                <a:lnTo>
                  <a:pt x="7129497" y="4616350"/>
                </a:lnTo>
                <a:lnTo>
                  <a:pt x="0" y="461635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512513" y="2572606"/>
            <a:ext cx="9470384" cy="11088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076"/>
              </a:lnSpc>
            </a:pPr>
            <a:r>
              <a:rPr lang="en-US" sz="8592" spc="-223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Smart Spend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4215190"/>
            <a:ext cx="9016245" cy="38332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15"/>
              </a:lnSpc>
            </a:pPr>
            <a:r>
              <a:rPr lang="en-US" sz="3082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Personal Finance Management System</a:t>
            </a:r>
          </a:p>
          <a:p>
            <a:pPr algn="l">
              <a:lnSpc>
                <a:spcPts val="4315"/>
              </a:lnSpc>
            </a:pPr>
          </a:p>
          <a:p>
            <a:pPr algn="l">
              <a:lnSpc>
                <a:spcPts val="3615"/>
              </a:lnSpc>
            </a:pPr>
            <a:r>
              <a:rPr lang="en-US" sz="2582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Developed Using</a:t>
            </a:r>
          </a:p>
          <a:p>
            <a:pPr algn="l" marL="557632" indent="-278816" lvl="1">
              <a:lnSpc>
                <a:spcPts val="3615"/>
              </a:lnSpc>
              <a:buFont typeface="Arial"/>
              <a:buChar char="•"/>
            </a:pPr>
            <a:r>
              <a:rPr lang="en-US" sz="2582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Next.js</a:t>
            </a:r>
          </a:p>
          <a:p>
            <a:pPr algn="l" marL="557632" indent="-278816" lvl="1">
              <a:lnSpc>
                <a:spcPts val="3615"/>
              </a:lnSpc>
              <a:buFont typeface="Arial"/>
              <a:buChar char="•"/>
            </a:pPr>
            <a:r>
              <a:rPr lang="en-US" sz="2582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TypeScript</a:t>
            </a:r>
          </a:p>
          <a:p>
            <a:pPr algn="l" marL="557632" indent="-278816" lvl="1">
              <a:lnSpc>
                <a:spcPts val="3615"/>
              </a:lnSpc>
              <a:buFont typeface="Arial"/>
              <a:buChar char="•"/>
            </a:pPr>
            <a:r>
              <a:rPr lang="en-US" sz="2582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PostgreSQL</a:t>
            </a:r>
          </a:p>
          <a:p>
            <a:pPr algn="l" marL="557632" indent="-278816" lvl="1">
              <a:lnSpc>
                <a:spcPts val="3615"/>
              </a:lnSpc>
              <a:buFont typeface="Arial"/>
              <a:buChar char="•"/>
            </a:pPr>
            <a:r>
              <a:rPr lang="en-US" sz="2582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Docker</a:t>
            </a:r>
          </a:p>
          <a:p>
            <a:pPr algn="l">
              <a:lnSpc>
                <a:spcPts val="3615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10982897" y="845185"/>
            <a:ext cx="1809114" cy="431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About us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077761" y="845185"/>
            <a:ext cx="1809114" cy="431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Service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5172625" y="845185"/>
            <a:ext cx="1809114" cy="431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Contact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888033" y="845185"/>
            <a:ext cx="1809114" cy="431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Home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1318756" y="1476235"/>
            <a:ext cx="1137396" cy="47625"/>
            <a:chOff x="0" y="0"/>
            <a:chExt cx="299561" cy="1254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99561" cy="12543"/>
            </a:xfrm>
            <a:custGeom>
              <a:avLst/>
              <a:gdLst/>
              <a:ahLst/>
              <a:cxnLst/>
              <a:rect r="r" b="b" t="t" l="l"/>
              <a:pathLst>
                <a:path h="12543" w="299561">
                  <a:moveTo>
                    <a:pt x="0" y="0"/>
                  </a:moveTo>
                  <a:lnTo>
                    <a:pt x="299561" y="0"/>
                  </a:lnTo>
                  <a:lnTo>
                    <a:pt x="299561" y="12543"/>
                  </a:lnTo>
                  <a:lnTo>
                    <a:pt x="0" y="12543"/>
                  </a:lnTo>
                  <a:close/>
                </a:path>
              </a:pathLst>
            </a:custGeom>
            <a:solidFill>
              <a:srgbClr val="47555D"/>
            </a:solidFill>
            <a:ln cap="sq">
              <a:noFill/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299561" cy="506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51B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8107955" y="-9492011"/>
            <a:ext cx="16376864" cy="16376864"/>
          </a:xfrm>
          <a:custGeom>
            <a:avLst/>
            <a:gdLst/>
            <a:ahLst/>
            <a:cxnLst/>
            <a:rect r="r" b="b" t="t" l="l"/>
            <a:pathLst>
              <a:path h="16376864" w="16376864">
                <a:moveTo>
                  <a:pt x="0" y="0"/>
                </a:moveTo>
                <a:lnTo>
                  <a:pt x="16376863" y="0"/>
                </a:lnTo>
                <a:lnTo>
                  <a:pt x="16376863" y="16376864"/>
                </a:lnTo>
                <a:lnTo>
                  <a:pt x="0" y="16376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697147" y="4171690"/>
            <a:ext cx="10173221" cy="10173221"/>
          </a:xfrm>
          <a:custGeom>
            <a:avLst/>
            <a:gdLst/>
            <a:ahLst/>
            <a:cxnLst/>
            <a:rect r="r" b="b" t="t" l="l"/>
            <a:pathLst>
              <a:path h="10173221" w="10173221">
                <a:moveTo>
                  <a:pt x="0" y="0"/>
                </a:moveTo>
                <a:lnTo>
                  <a:pt x="10173221" y="0"/>
                </a:lnTo>
                <a:lnTo>
                  <a:pt x="10173221" y="10173220"/>
                </a:lnTo>
                <a:lnTo>
                  <a:pt x="0" y="101732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12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753756" y="1276985"/>
            <a:ext cx="17011089" cy="17011089"/>
          </a:xfrm>
          <a:custGeom>
            <a:avLst/>
            <a:gdLst/>
            <a:ahLst/>
            <a:cxnLst/>
            <a:rect r="r" b="b" t="t" l="l"/>
            <a:pathLst>
              <a:path h="17011089" w="17011089">
                <a:moveTo>
                  <a:pt x="0" y="0"/>
                </a:moveTo>
                <a:lnTo>
                  <a:pt x="17011088" y="0"/>
                </a:lnTo>
                <a:lnTo>
                  <a:pt x="17011088" y="17011089"/>
                </a:lnTo>
                <a:lnTo>
                  <a:pt x="0" y="1701108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1062863" y="3612749"/>
            <a:ext cx="5838910" cy="4623515"/>
          </a:xfrm>
          <a:custGeom>
            <a:avLst/>
            <a:gdLst/>
            <a:ahLst/>
            <a:cxnLst/>
            <a:rect r="r" b="b" t="t" l="l"/>
            <a:pathLst>
              <a:path h="4623515" w="5838910">
                <a:moveTo>
                  <a:pt x="0" y="0"/>
                </a:moveTo>
                <a:lnTo>
                  <a:pt x="5838910" y="0"/>
                </a:lnTo>
                <a:lnTo>
                  <a:pt x="5838910" y="4623514"/>
                </a:lnTo>
                <a:lnTo>
                  <a:pt x="0" y="462351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729221" y="4800458"/>
            <a:ext cx="3464415" cy="3435805"/>
          </a:xfrm>
          <a:custGeom>
            <a:avLst/>
            <a:gdLst/>
            <a:ahLst/>
            <a:cxnLst/>
            <a:rect r="r" b="b" t="t" l="l"/>
            <a:pathLst>
              <a:path h="3435805" w="3464415">
                <a:moveTo>
                  <a:pt x="0" y="0"/>
                </a:moveTo>
                <a:lnTo>
                  <a:pt x="3464415" y="0"/>
                </a:lnTo>
                <a:lnTo>
                  <a:pt x="3464415" y="3435805"/>
                </a:lnTo>
                <a:lnTo>
                  <a:pt x="0" y="343580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512513" y="1410335"/>
            <a:ext cx="6756395" cy="21155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52"/>
              </a:lnSpc>
            </a:pPr>
            <a:r>
              <a:rPr lang="en-US" sz="5800" spc="-150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Existing Problems</a:t>
            </a:r>
          </a:p>
          <a:p>
            <a:pPr algn="l">
              <a:lnSpc>
                <a:spcPts val="5452"/>
              </a:lnSpc>
            </a:pPr>
          </a:p>
          <a:p>
            <a:pPr algn="l">
              <a:lnSpc>
                <a:spcPts val="5452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455293" y="2950649"/>
            <a:ext cx="10241854" cy="65197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16"/>
              </a:lnSpc>
            </a:pPr>
            <a:r>
              <a:rPr lang="en-US" sz="2654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Modern digital banking systems often face:</a:t>
            </a:r>
          </a:p>
          <a:p>
            <a:pPr algn="l">
              <a:lnSpc>
                <a:spcPts val="3716"/>
              </a:lnSpc>
            </a:pPr>
          </a:p>
          <a:p>
            <a:pPr algn="l" marL="573108" indent="-286554" lvl="1">
              <a:lnSpc>
                <a:spcPts val="3716"/>
              </a:lnSpc>
              <a:buFont typeface="Arial"/>
              <a:buChar char="•"/>
            </a:pPr>
            <a:r>
              <a:rPr lang="en-US" sz="2654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Fragmented navigation structures</a:t>
            </a:r>
          </a:p>
          <a:p>
            <a:pPr algn="l" marL="573108" indent="-286554" lvl="1">
              <a:lnSpc>
                <a:spcPts val="3716"/>
              </a:lnSpc>
              <a:buFont typeface="Arial"/>
              <a:buChar char="•"/>
            </a:pPr>
            <a:r>
              <a:rPr lang="en-US" sz="2654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Broken routing workflows (404 errors)</a:t>
            </a:r>
          </a:p>
          <a:p>
            <a:pPr algn="l" marL="573108" indent="-286554" lvl="1">
              <a:lnSpc>
                <a:spcPts val="3716"/>
              </a:lnSpc>
              <a:buFont typeface="Arial"/>
              <a:buChar char="•"/>
            </a:pPr>
            <a:r>
              <a:rPr lang="en-US" sz="2654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UI component conflicts</a:t>
            </a:r>
          </a:p>
          <a:p>
            <a:pPr algn="l" marL="573108" indent="-286554" lvl="1">
              <a:lnSpc>
                <a:spcPts val="3716"/>
              </a:lnSpc>
              <a:buFont typeface="Arial"/>
              <a:buChar char="•"/>
            </a:pPr>
            <a:r>
              <a:rPr lang="en-US" sz="2654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Poor user experience</a:t>
            </a:r>
          </a:p>
          <a:p>
            <a:pPr algn="l" marL="573108" indent="-286554" lvl="1">
              <a:lnSpc>
                <a:spcPts val="3716"/>
              </a:lnSpc>
              <a:buFont typeface="Arial"/>
              <a:buChar char="•"/>
            </a:pPr>
            <a:r>
              <a:rPr lang="en-US" sz="2654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Difficult fund transfer processes</a:t>
            </a:r>
          </a:p>
          <a:p>
            <a:pPr algn="l" marL="573108" indent="-286554" lvl="1">
              <a:lnSpc>
                <a:spcPts val="3716"/>
              </a:lnSpc>
              <a:buFont typeface="Arial"/>
              <a:buChar char="•"/>
            </a:pPr>
            <a:r>
              <a:rPr lang="en-US" sz="2654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Team collaboration issues during rapid development</a:t>
            </a:r>
          </a:p>
          <a:p>
            <a:pPr algn="l" marL="573108" indent="-286554" lvl="1">
              <a:lnSpc>
                <a:spcPts val="3716"/>
              </a:lnSpc>
              <a:buFont typeface="Arial"/>
              <a:buChar char="•"/>
            </a:pPr>
          </a:p>
          <a:p>
            <a:pPr algn="l">
              <a:lnSpc>
                <a:spcPts val="3716"/>
              </a:lnSpc>
            </a:pPr>
            <a:r>
              <a:rPr lang="en-US" sz="2654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Our Goal</a:t>
            </a:r>
          </a:p>
          <a:p>
            <a:pPr algn="l">
              <a:lnSpc>
                <a:spcPts val="3716"/>
              </a:lnSpc>
            </a:pPr>
          </a:p>
          <a:p>
            <a:pPr algn="l">
              <a:lnSpc>
                <a:spcPts val="3716"/>
              </a:lnSpc>
            </a:pPr>
            <a:r>
              <a:rPr lang="en-US" sz="2654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Develop a secure, user-friendly and scalable banking platform that eliminates these challenges</a:t>
            </a:r>
          </a:p>
          <a:p>
            <a:pPr algn="l">
              <a:lnSpc>
                <a:spcPts val="3716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51B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437401" y="5181427"/>
            <a:ext cx="17011089" cy="17011089"/>
          </a:xfrm>
          <a:custGeom>
            <a:avLst/>
            <a:gdLst/>
            <a:ahLst/>
            <a:cxnLst/>
            <a:rect r="r" b="b" t="t" l="l"/>
            <a:pathLst>
              <a:path h="17011089" w="17011089">
                <a:moveTo>
                  <a:pt x="0" y="0"/>
                </a:moveTo>
                <a:lnTo>
                  <a:pt x="17011089" y="0"/>
                </a:lnTo>
                <a:lnTo>
                  <a:pt x="17011089" y="17011089"/>
                </a:lnTo>
                <a:lnTo>
                  <a:pt x="0" y="1701108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37322" y="3896437"/>
            <a:ext cx="5649203" cy="5649203"/>
          </a:xfrm>
          <a:custGeom>
            <a:avLst/>
            <a:gdLst/>
            <a:ahLst/>
            <a:cxnLst/>
            <a:rect r="r" b="b" t="t" l="l"/>
            <a:pathLst>
              <a:path h="5649203" w="5649203">
                <a:moveTo>
                  <a:pt x="0" y="0"/>
                </a:moveTo>
                <a:lnTo>
                  <a:pt x="5649203" y="0"/>
                </a:lnTo>
                <a:lnTo>
                  <a:pt x="5649203" y="5649203"/>
                </a:lnTo>
                <a:lnTo>
                  <a:pt x="0" y="564920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18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470868" y="1426368"/>
            <a:ext cx="7631487" cy="18448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93"/>
              </a:lnSpc>
            </a:pPr>
            <a:r>
              <a:rPr lang="en-US" sz="5099" spc="-132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NOVA-X Solution</a:t>
            </a:r>
          </a:p>
          <a:p>
            <a:pPr algn="l">
              <a:lnSpc>
                <a:spcPts val="4793"/>
              </a:lnSpc>
            </a:pPr>
          </a:p>
          <a:p>
            <a:pPr algn="l">
              <a:lnSpc>
                <a:spcPts val="4793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1359556" y="2535943"/>
            <a:ext cx="8565489" cy="5568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2"/>
              </a:lnSpc>
            </a:pPr>
            <a:r>
              <a:rPr lang="en-US" sz="320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NOVA-X is a FinTech platform designed to: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068143" y="3820237"/>
            <a:ext cx="11642866" cy="4385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68"/>
              </a:lnSpc>
            </a:pPr>
            <a:r>
              <a:rPr lang="en-US" sz="362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✅ Manage banking activities efficiently</a:t>
            </a:r>
          </a:p>
          <a:p>
            <a:pPr algn="l">
              <a:lnSpc>
                <a:spcPts val="5068"/>
              </a:lnSpc>
            </a:pPr>
            <a:r>
              <a:rPr lang="en-US" sz="362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✅ Provide secure fund transfers</a:t>
            </a:r>
          </a:p>
          <a:p>
            <a:pPr algn="l">
              <a:lnSpc>
                <a:spcPts val="5068"/>
              </a:lnSpc>
            </a:pPr>
            <a:r>
              <a:rPr lang="en-US" sz="362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✅ Simplify bill payments</a:t>
            </a:r>
          </a:p>
          <a:p>
            <a:pPr algn="l">
              <a:lnSpc>
                <a:spcPts val="5068"/>
              </a:lnSpc>
            </a:pPr>
            <a:r>
              <a:rPr lang="en-US" sz="362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✅ Generate E-statements</a:t>
            </a:r>
          </a:p>
          <a:p>
            <a:pPr algn="l">
              <a:lnSpc>
                <a:spcPts val="5068"/>
              </a:lnSpc>
            </a:pPr>
            <a:r>
              <a:rPr lang="en-US" sz="362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✅ Analyze user spending patterns</a:t>
            </a:r>
          </a:p>
          <a:p>
            <a:pPr algn="l">
              <a:lnSpc>
                <a:spcPts val="5068"/>
              </a:lnSpc>
            </a:pPr>
            <a:r>
              <a:rPr lang="en-US" sz="362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✅ Deliver seamless navigation and user experience</a:t>
            </a:r>
          </a:p>
          <a:p>
            <a:pPr algn="l">
              <a:lnSpc>
                <a:spcPts val="5068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51B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895199" y="-9389038"/>
            <a:ext cx="16376864" cy="16376864"/>
          </a:xfrm>
          <a:custGeom>
            <a:avLst/>
            <a:gdLst/>
            <a:ahLst/>
            <a:cxnLst/>
            <a:rect r="r" b="b" t="t" l="l"/>
            <a:pathLst>
              <a:path h="16376864" w="16376864">
                <a:moveTo>
                  <a:pt x="0" y="0"/>
                </a:moveTo>
                <a:lnTo>
                  <a:pt x="16376864" y="0"/>
                </a:lnTo>
                <a:lnTo>
                  <a:pt x="16376864" y="16376864"/>
                </a:lnTo>
                <a:lnTo>
                  <a:pt x="0" y="16376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697147" y="4171690"/>
            <a:ext cx="10173221" cy="10173221"/>
          </a:xfrm>
          <a:custGeom>
            <a:avLst/>
            <a:gdLst/>
            <a:ahLst/>
            <a:cxnLst/>
            <a:rect r="r" b="b" t="t" l="l"/>
            <a:pathLst>
              <a:path h="10173221" w="10173221">
                <a:moveTo>
                  <a:pt x="0" y="0"/>
                </a:moveTo>
                <a:lnTo>
                  <a:pt x="10173221" y="0"/>
                </a:lnTo>
                <a:lnTo>
                  <a:pt x="10173221" y="10173220"/>
                </a:lnTo>
                <a:lnTo>
                  <a:pt x="0" y="101732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12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753756" y="1276985"/>
            <a:ext cx="17011089" cy="17011089"/>
          </a:xfrm>
          <a:custGeom>
            <a:avLst/>
            <a:gdLst/>
            <a:ahLst/>
            <a:cxnLst/>
            <a:rect r="r" b="b" t="t" l="l"/>
            <a:pathLst>
              <a:path h="17011089" w="17011089">
                <a:moveTo>
                  <a:pt x="0" y="0"/>
                </a:moveTo>
                <a:lnTo>
                  <a:pt x="17011088" y="0"/>
                </a:lnTo>
                <a:lnTo>
                  <a:pt x="17011088" y="17011089"/>
                </a:lnTo>
                <a:lnTo>
                  <a:pt x="0" y="1701108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1318756" y="2797939"/>
            <a:ext cx="5114557" cy="2058609"/>
          </a:xfrm>
          <a:custGeom>
            <a:avLst/>
            <a:gdLst/>
            <a:ahLst/>
            <a:cxnLst/>
            <a:rect r="r" b="b" t="t" l="l"/>
            <a:pathLst>
              <a:path h="2058609" w="5114557">
                <a:moveTo>
                  <a:pt x="0" y="0"/>
                </a:moveTo>
                <a:lnTo>
                  <a:pt x="5114557" y="0"/>
                </a:lnTo>
                <a:lnTo>
                  <a:pt x="5114557" y="2058609"/>
                </a:lnTo>
                <a:lnTo>
                  <a:pt x="0" y="205860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897252" y="2634319"/>
            <a:ext cx="6547594" cy="6437358"/>
          </a:xfrm>
          <a:custGeom>
            <a:avLst/>
            <a:gdLst/>
            <a:ahLst/>
            <a:cxnLst/>
            <a:rect r="r" b="b" t="t" l="l"/>
            <a:pathLst>
              <a:path h="6437358" w="6547594">
                <a:moveTo>
                  <a:pt x="0" y="0"/>
                </a:moveTo>
                <a:lnTo>
                  <a:pt x="6547594" y="0"/>
                </a:lnTo>
                <a:lnTo>
                  <a:pt x="6547594" y="6437358"/>
                </a:lnTo>
                <a:lnTo>
                  <a:pt x="0" y="643735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23531" t="0" r="-31603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5302901" y="683004"/>
            <a:ext cx="6756395" cy="13213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76"/>
              </a:lnSpc>
            </a:pPr>
            <a:r>
              <a:rPr lang="en-US" sz="5400" spc="-140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Core Modules</a:t>
            </a:r>
          </a:p>
          <a:p>
            <a:pPr algn="l">
              <a:lnSpc>
                <a:spcPts val="5076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2343364"/>
            <a:ext cx="11030596" cy="69525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64"/>
              </a:lnSpc>
            </a:pPr>
            <a:r>
              <a:rPr lang="en-US" sz="3046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Authentication System</a:t>
            </a:r>
          </a:p>
          <a:p>
            <a:pPr algn="l" marL="657712" indent="-328856" lvl="1">
              <a:lnSpc>
                <a:spcPts val="4264"/>
              </a:lnSpc>
              <a:buFont typeface="Arial"/>
              <a:buChar char="•"/>
            </a:pPr>
            <a:r>
              <a:rPr lang="en-US" sz="3046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Login Interface</a:t>
            </a:r>
          </a:p>
          <a:p>
            <a:pPr algn="l" marL="657712" indent="-328856" lvl="1">
              <a:lnSpc>
                <a:spcPts val="4264"/>
              </a:lnSpc>
              <a:buFont typeface="Arial"/>
              <a:buChar char="•"/>
            </a:pPr>
            <a:r>
              <a:rPr lang="en-US" sz="3046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User Validation</a:t>
            </a:r>
          </a:p>
          <a:p>
            <a:pPr algn="l">
              <a:lnSpc>
                <a:spcPts val="4264"/>
              </a:lnSpc>
            </a:pPr>
            <a:r>
              <a:rPr lang="en-US" sz="3046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Accounts Management</a:t>
            </a:r>
          </a:p>
          <a:p>
            <a:pPr algn="l" marL="657712" indent="-328856" lvl="1">
              <a:lnSpc>
                <a:spcPts val="4264"/>
              </a:lnSpc>
              <a:buFont typeface="Arial"/>
              <a:buChar char="•"/>
            </a:pPr>
            <a:r>
              <a:rPr lang="en-US" sz="3046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lang="en-US" sz="3046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ccount Overview</a:t>
            </a:r>
          </a:p>
          <a:p>
            <a:pPr algn="l" marL="657712" indent="-328856" lvl="1">
              <a:lnSpc>
                <a:spcPts val="4264"/>
              </a:lnSpc>
              <a:buFont typeface="Arial"/>
              <a:buChar char="•"/>
            </a:pPr>
            <a:r>
              <a:rPr lang="en-US" sz="3046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N</a:t>
            </a:r>
            <a:r>
              <a:rPr lang="en-US" sz="3046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avigation Support</a:t>
            </a:r>
          </a:p>
          <a:p>
            <a:pPr algn="l">
              <a:lnSpc>
                <a:spcPts val="4264"/>
              </a:lnSpc>
            </a:pPr>
            <a:r>
              <a:rPr lang="en-US" sz="3046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Bank Transfer Wizard</a:t>
            </a:r>
          </a:p>
          <a:p>
            <a:pPr algn="l" marL="657712" indent="-328856" lvl="1">
              <a:lnSpc>
                <a:spcPts val="4264"/>
              </a:lnSpc>
              <a:buFont typeface="Arial"/>
              <a:buChar char="•"/>
            </a:pPr>
            <a:r>
              <a:rPr lang="en-US" sz="3046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</a:t>
            </a:r>
            <a:r>
              <a:rPr lang="en-US" sz="3046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ulti-step transfer process</a:t>
            </a:r>
          </a:p>
          <a:p>
            <a:pPr algn="l">
              <a:lnSpc>
                <a:spcPts val="4264"/>
              </a:lnSpc>
            </a:pPr>
            <a:r>
              <a:rPr lang="en-US" sz="3046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Smar</a:t>
            </a:r>
            <a:r>
              <a:rPr lang="en-US" sz="3046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 Spend Analytics</a:t>
            </a:r>
          </a:p>
          <a:p>
            <a:pPr algn="l" marL="657712" indent="-328856" lvl="1">
              <a:lnSpc>
                <a:spcPts val="4264"/>
              </a:lnSpc>
              <a:buFont typeface="Arial"/>
              <a:buChar char="•"/>
            </a:pPr>
            <a:r>
              <a:rPr lang="en-US" sz="3046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Expense Monitoring</a:t>
            </a:r>
          </a:p>
          <a:p>
            <a:pPr algn="l">
              <a:lnSpc>
                <a:spcPts val="4264"/>
              </a:lnSpc>
            </a:pPr>
            <a:r>
              <a:rPr lang="en-US" sz="3046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E-Statement Module</a:t>
            </a:r>
          </a:p>
          <a:p>
            <a:pPr algn="l" marL="657712" indent="-328856" lvl="1">
              <a:lnSpc>
                <a:spcPts val="4264"/>
              </a:lnSpc>
              <a:buFont typeface="Arial"/>
              <a:buChar char="•"/>
            </a:pPr>
            <a:r>
              <a:rPr lang="en-US" sz="3046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Transaction History Access</a:t>
            </a:r>
          </a:p>
          <a:p>
            <a:pPr algn="l">
              <a:lnSpc>
                <a:spcPts val="4264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51B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361288" y="2372581"/>
            <a:ext cx="17011089" cy="17011089"/>
          </a:xfrm>
          <a:custGeom>
            <a:avLst/>
            <a:gdLst/>
            <a:ahLst/>
            <a:cxnLst/>
            <a:rect r="r" b="b" t="t" l="l"/>
            <a:pathLst>
              <a:path h="17011089" w="17011089">
                <a:moveTo>
                  <a:pt x="0" y="0"/>
                </a:moveTo>
                <a:lnTo>
                  <a:pt x="17011089" y="0"/>
                </a:lnTo>
                <a:lnTo>
                  <a:pt x="17011089" y="17011089"/>
                </a:lnTo>
                <a:lnTo>
                  <a:pt x="0" y="1701108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576821" y="2372581"/>
            <a:ext cx="6500361" cy="6500361"/>
          </a:xfrm>
          <a:custGeom>
            <a:avLst/>
            <a:gdLst/>
            <a:ahLst/>
            <a:cxnLst/>
            <a:rect r="r" b="b" t="t" l="l"/>
            <a:pathLst>
              <a:path h="6500361" w="6500361">
                <a:moveTo>
                  <a:pt x="0" y="0"/>
                </a:moveTo>
                <a:lnTo>
                  <a:pt x="6500361" y="0"/>
                </a:lnTo>
                <a:lnTo>
                  <a:pt x="6500361" y="6500361"/>
                </a:lnTo>
                <a:lnTo>
                  <a:pt x="0" y="65003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18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8107955" y="-9492011"/>
            <a:ext cx="16376864" cy="16376864"/>
          </a:xfrm>
          <a:custGeom>
            <a:avLst/>
            <a:gdLst/>
            <a:ahLst/>
            <a:cxnLst/>
            <a:rect r="r" b="b" t="t" l="l"/>
            <a:pathLst>
              <a:path h="16376864" w="16376864">
                <a:moveTo>
                  <a:pt x="0" y="0"/>
                </a:moveTo>
                <a:lnTo>
                  <a:pt x="16376863" y="0"/>
                </a:lnTo>
                <a:lnTo>
                  <a:pt x="16376863" y="16376864"/>
                </a:lnTo>
                <a:lnTo>
                  <a:pt x="0" y="1637686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4392541" y="2248109"/>
            <a:ext cx="9829296" cy="7848943"/>
            <a:chOff x="0" y="0"/>
            <a:chExt cx="2588786" cy="206721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588786" cy="2067211"/>
            </a:xfrm>
            <a:custGeom>
              <a:avLst/>
              <a:gdLst/>
              <a:ahLst/>
              <a:cxnLst/>
              <a:rect r="r" b="b" t="t" l="l"/>
              <a:pathLst>
                <a:path h="2067211" w="2588786">
                  <a:moveTo>
                    <a:pt x="40169" y="0"/>
                  </a:moveTo>
                  <a:lnTo>
                    <a:pt x="2548617" y="0"/>
                  </a:lnTo>
                  <a:cubicBezTo>
                    <a:pt x="2559270" y="0"/>
                    <a:pt x="2569487" y="4232"/>
                    <a:pt x="2577021" y="11765"/>
                  </a:cubicBezTo>
                  <a:cubicBezTo>
                    <a:pt x="2584554" y="19299"/>
                    <a:pt x="2588786" y="29516"/>
                    <a:pt x="2588786" y="40169"/>
                  </a:cubicBezTo>
                  <a:lnTo>
                    <a:pt x="2588786" y="2027042"/>
                  </a:lnTo>
                  <a:cubicBezTo>
                    <a:pt x="2588786" y="2037696"/>
                    <a:pt x="2584554" y="2047913"/>
                    <a:pt x="2577021" y="2055446"/>
                  </a:cubicBezTo>
                  <a:cubicBezTo>
                    <a:pt x="2569487" y="2062979"/>
                    <a:pt x="2559270" y="2067211"/>
                    <a:pt x="2548617" y="2067211"/>
                  </a:cubicBezTo>
                  <a:lnTo>
                    <a:pt x="40169" y="2067211"/>
                  </a:lnTo>
                  <a:cubicBezTo>
                    <a:pt x="29516" y="2067211"/>
                    <a:pt x="19299" y="2062979"/>
                    <a:pt x="11765" y="2055446"/>
                  </a:cubicBezTo>
                  <a:cubicBezTo>
                    <a:pt x="4232" y="2047913"/>
                    <a:pt x="0" y="2037696"/>
                    <a:pt x="0" y="2027042"/>
                  </a:cubicBezTo>
                  <a:lnTo>
                    <a:pt x="0" y="40169"/>
                  </a:lnTo>
                  <a:cubicBezTo>
                    <a:pt x="0" y="29516"/>
                    <a:pt x="4232" y="19299"/>
                    <a:pt x="11765" y="11765"/>
                  </a:cubicBezTo>
                  <a:cubicBezTo>
                    <a:pt x="19299" y="4232"/>
                    <a:pt x="29516" y="0"/>
                    <a:pt x="40169" y="0"/>
                  </a:cubicBezTo>
                  <a:close/>
                </a:path>
              </a:pathLst>
            </a:custGeom>
            <a:solidFill>
              <a:srgbClr val="00FFFC">
                <a:alpha val="60000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2588786" cy="21243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00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681771" y="436048"/>
            <a:ext cx="3179054" cy="1812061"/>
          </a:xfrm>
          <a:custGeom>
            <a:avLst/>
            <a:gdLst/>
            <a:ahLst/>
            <a:cxnLst/>
            <a:rect r="r" b="b" t="t" l="l"/>
            <a:pathLst>
              <a:path h="1812061" w="3179054">
                <a:moveTo>
                  <a:pt x="0" y="0"/>
                </a:moveTo>
                <a:lnTo>
                  <a:pt x="3179054" y="0"/>
                </a:lnTo>
                <a:lnTo>
                  <a:pt x="3179054" y="1812061"/>
                </a:lnTo>
                <a:lnTo>
                  <a:pt x="0" y="181206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graphicFrame>
        <p:nvGraphicFramePr>
          <p:cNvPr name="Table 9" id="9"/>
          <p:cNvGraphicFramePr>
            <a:graphicFrameLocks noGrp="true"/>
          </p:cNvGraphicFramePr>
          <p:nvPr/>
        </p:nvGraphicFramePr>
        <p:xfrm>
          <a:off x="5762860" y="2714396"/>
          <a:ext cx="7315200" cy="7010953"/>
        </p:xfrm>
        <a:graphic>
          <a:graphicData uri="http://schemas.openxmlformats.org/drawingml/2006/table">
            <a:tbl>
              <a:tblPr/>
              <a:tblGrid>
                <a:gridCol w="3657600"/>
                <a:gridCol w="3657600"/>
              </a:tblGrid>
              <a:tr h="102474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79"/>
                        </a:lnSpc>
                        <a:defRPr/>
                      </a:pPr>
                      <a:r>
                        <a:rPr lang="en-US" sz="2199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      Technology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Purpose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474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Next.js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Full Stack Framework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474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React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User Interface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474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TypeScript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Development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474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Tailwind CSS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Responsive Styling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474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Git &amp; GitHub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Version Control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6249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Docker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Deployment Environment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10" id="10"/>
          <p:cNvSpPr txBox="true"/>
          <p:nvPr/>
        </p:nvSpPr>
        <p:spPr>
          <a:xfrm rot="0">
            <a:off x="5151588" y="546798"/>
            <a:ext cx="9868611" cy="9723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67"/>
              </a:lnSpc>
            </a:pPr>
            <a:r>
              <a:rPr lang="en-US" sz="7625" spc="-198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Technologies U</a:t>
            </a:r>
            <a:r>
              <a:rPr lang="en-US" sz="7625" spc="-198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sed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51B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732620" y="5200390"/>
            <a:ext cx="10173221" cy="10173221"/>
          </a:xfrm>
          <a:custGeom>
            <a:avLst/>
            <a:gdLst/>
            <a:ahLst/>
            <a:cxnLst/>
            <a:rect r="r" b="b" t="t" l="l"/>
            <a:pathLst>
              <a:path h="10173221" w="10173221">
                <a:moveTo>
                  <a:pt x="0" y="0"/>
                </a:moveTo>
                <a:lnTo>
                  <a:pt x="10173220" y="0"/>
                </a:lnTo>
                <a:lnTo>
                  <a:pt x="10173220" y="10173220"/>
                </a:lnTo>
                <a:lnTo>
                  <a:pt x="0" y="101732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4685458" y="869176"/>
            <a:ext cx="17011089" cy="17011089"/>
          </a:xfrm>
          <a:custGeom>
            <a:avLst/>
            <a:gdLst/>
            <a:ahLst/>
            <a:cxnLst/>
            <a:rect r="r" b="b" t="t" l="l"/>
            <a:pathLst>
              <a:path h="17011089" w="17011089">
                <a:moveTo>
                  <a:pt x="0" y="0"/>
                </a:moveTo>
                <a:lnTo>
                  <a:pt x="17011089" y="0"/>
                </a:lnTo>
                <a:lnTo>
                  <a:pt x="17011089" y="17011089"/>
                </a:lnTo>
                <a:lnTo>
                  <a:pt x="0" y="1701108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8107955" y="-9492011"/>
            <a:ext cx="16376864" cy="16376864"/>
          </a:xfrm>
          <a:custGeom>
            <a:avLst/>
            <a:gdLst/>
            <a:ahLst/>
            <a:cxnLst/>
            <a:rect r="r" b="b" t="t" l="l"/>
            <a:pathLst>
              <a:path h="16376864" w="16376864">
                <a:moveTo>
                  <a:pt x="0" y="0"/>
                </a:moveTo>
                <a:lnTo>
                  <a:pt x="16376863" y="0"/>
                </a:lnTo>
                <a:lnTo>
                  <a:pt x="16376863" y="16376864"/>
                </a:lnTo>
                <a:lnTo>
                  <a:pt x="0" y="1637686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3676591" y="1002526"/>
            <a:ext cx="9184634" cy="13213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76"/>
              </a:lnSpc>
            </a:pPr>
            <a:r>
              <a:rPr lang="en-US" sz="5400" spc="-140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High-Level Architecture</a:t>
            </a:r>
          </a:p>
          <a:p>
            <a:pPr algn="l">
              <a:lnSpc>
                <a:spcPts val="5076"/>
              </a:lnSpc>
            </a:pPr>
          </a:p>
        </p:txBody>
      </p:sp>
      <p:grpSp>
        <p:nvGrpSpPr>
          <p:cNvPr name="Group 6" id="6"/>
          <p:cNvGrpSpPr/>
          <p:nvPr/>
        </p:nvGrpSpPr>
        <p:grpSpPr>
          <a:xfrm rot="0">
            <a:off x="10371562" y="2936014"/>
            <a:ext cx="6688876" cy="6774874"/>
            <a:chOff x="0" y="0"/>
            <a:chExt cx="1941014" cy="196596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941013" cy="1965969"/>
            </a:xfrm>
            <a:custGeom>
              <a:avLst/>
              <a:gdLst/>
              <a:ahLst/>
              <a:cxnLst/>
              <a:rect r="r" b="b" t="t" l="l"/>
              <a:pathLst>
                <a:path h="1965969" w="1941013">
                  <a:moveTo>
                    <a:pt x="59029" y="0"/>
                  </a:moveTo>
                  <a:lnTo>
                    <a:pt x="1881985" y="0"/>
                  </a:lnTo>
                  <a:cubicBezTo>
                    <a:pt x="1897640" y="0"/>
                    <a:pt x="1912654" y="6219"/>
                    <a:pt x="1923724" y="17289"/>
                  </a:cubicBezTo>
                  <a:cubicBezTo>
                    <a:pt x="1934794" y="28359"/>
                    <a:pt x="1941013" y="43374"/>
                    <a:pt x="1941013" y="59029"/>
                  </a:cubicBezTo>
                  <a:lnTo>
                    <a:pt x="1941013" y="1906940"/>
                  </a:lnTo>
                  <a:cubicBezTo>
                    <a:pt x="1941013" y="1922595"/>
                    <a:pt x="1934794" y="1937609"/>
                    <a:pt x="1923724" y="1948680"/>
                  </a:cubicBezTo>
                  <a:cubicBezTo>
                    <a:pt x="1912654" y="1959750"/>
                    <a:pt x="1897640" y="1965969"/>
                    <a:pt x="1881985" y="1965969"/>
                  </a:cubicBezTo>
                  <a:lnTo>
                    <a:pt x="59029" y="1965969"/>
                  </a:lnTo>
                  <a:cubicBezTo>
                    <a:pt x="26428" y="1965969"/>
                    <a:pt x="0" y="1939541"/>
                    <a:pt x="0" y="1906940"/>
                  </a:cubicBezTo>
                  <a:lnTo>
                    <a:pt x="0" y="59029"/>
                  </a:lnTo>
                  <a:cubicBezTo>
                    <a:pt x="0" y="26428"/>
                    <a:pt x="26428" y="0"/>
                    <a:pt x="59029" y="0"/>
                  </a:cubicBezTo>
                  <a:close/>
                </a:path>
              </a:pathLst>
            </a:custGeom>
            <a:solidFill>
              <a:srgbClr val="00FFFC">
                <a:alpha val="60000"/>
              </a:srgbClr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1941014" cy="20231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00"/>
                </a:lnSpc>
              </a:pPr>
              <a:r>
                <a:rPr lang="en-US" sz="2500">
                  <a:solidFill>
                    <a:srgbClr val="000000">
                      <a:alpha val="60000"/>
                    </a:srgbClr>
                  </a:solidFill>
                  <a:latin typeface="Roboto"/>
                  <a:ea typeface="Roboto"/>
                  <a:cs typeface="Roboto"/>
                  <a:sym typeface="Roboto"/>
                </a:rPr>
                <a:t>User</a:t>
              </a:r>
            </a:p>
            <a:p>
              <a:pPr algn="ctr">
                <a:lnSpc>
                  <a:spcPts val="3500"/>
                </a:lnSpc>
              </a:pPr>
              <a:r>
                <a:rPr lang="en-US" sz="2500">
                  <a:solidFill>
                    <a:srgbClr val="000000">
                      <a:alpha val="60000"/>
                    </a:srgbClr>
                  </a:solidFill>
                  <a:latin typeface="Roboto"/>
                  <a:ea typeface="Roboto"/>
                  <a:cs typeface="Roboto"/>
                  <a:sym typeface="Roboto"/>
                </a:rPr>
                <a:t> ↓</a:t>
              </a:r>
            </a:p>
            <a:p>
              <a:pPr algn="ctr">
                <a:lnSpc>
                  <a:spcPts val="3500"/>
                </a:lnSpc>
              </a:pPr>
              <a:r>
                <a:rPr lang="en-US" sz="2500">
                  <a:solidFill>
                    <a:srgbClr val="000000">
                      <a:alpha val="60000"/>
                    </a:srgbClr>
                  </a:solidFill>
                  <a:latin typeface="Roboto"/>
                  <a:ea typeface="Roboto"/>
                  <a:cs typeface="Roboto"/>
                  <a:sym typeface="Roboto"/>
                </a:rPr>
                <a:t>Frontend (Next.js)</a:t>
              </a:r>
            </a:p>
            <a:p>
              <a:pPr algn="ctr">
                <a:lnSpc>
                  <a:spcPts val="3500"/>
                </a:lnSpc>
              </a:pPr>
              <a:r>
                <a:rPr lang="en-US" sz="2500">
                  <a:solidFill>
                    <a:srgbClr val="000000">
                      <a:alpha val="60000"/>
                    </a:srgbClr>
                  </a:solidFill>
                  <a:latin typeface="Roboto"/>
                  <a:ea typeface="Roboto"/>
                  <a:cs typeface="Roboto"/>
                  <a:sym typeface="Roboto"/>
                </a:rPr>
                <a:t> ↓</a:t>
              </a:r>
            </a:p>
            <a:p>
              <a:pPr algn="ctr">
                <a:lnSpc>
                  <a:spcPts val="3500"/>
                </a:lnSpc>
              </a:pPr>
              <a:r>
                <a:rPr lang="en-US" sz="2500">
                  <a:solidFill>
                    <a:srgbClr val="000000">
                      <a:alpha val="60000"/>
                    </a:srgbClr>
                  </a:solidFill>
                  <a:latin typeface="Roboto"/>
                  <a:ea typeface="Roboto"/>
                  <a:cs typeface="Roboto"/>
                  <a:sym typeface="Roboto"/>
                </a:rPr>
                <a:t>Application Logic</a:t>
              </a:r>
            </a:p>
            <a:p>
              <a:pPr algn="ctr">
                <a:lnSpc>
                  <a:spcPts val="3500"/>
                </a:lnSpc>
              </a:pPr>
              <a:r>
                <a:rPr lang="en-US" sz="2500">
                  <a:solidFill>
                    <a:srgbClr val="000000">
                      <a:alpha val="60000"/>
                    </a:srgbClr>
                  </a:solidFill>
                  <a:latin typeface="Roboto"/>
                  <a:ea typeface="Roboto"/>
                  <a:cs typeface="Roboto"/>
                  <a:sym typeface="Roboto"/>
                </a:rPr>
                <a:t> ↓</a:t>
              </a:r>
            </a:p>
            <a:p>
              <a:pPr algn="ctr">
                <a:lnSpc>
                  <a:spcPts val="3500"/>
                </a:lnSpc>
              </a:pPr>
              <a:r>
                <a:rPr lang="en-US" sz="2500">
                  <a:solidFill>
                    <a:srgbClr val="000000">
                      <a:alpha val="60000"/>
                    </a:srgbClr>
                  </a:solidFill>
                  <a:latin typeface="Roboto"/>
                  <a:ea typeface="Roboto"/>
                  <a:cs typeface="Roboto"/>
                  <a:sym typeface="Roboto"/>
                </a:rPr>
                <a:t>Banking Modules</a:t>
              </a:r>
            </a:p>
            <a:p>
              <a:pPr algn="ctr">
                <a:lnSpc>
                  <a:spcPts val="3500"/>
                </a:lnSpc>
              </a:pPr>
              <a:r>
                <a:rPr lang="en-US" sz="2500">
                  <a:solidFill>
                    <a:srgbClr val="000000">
                      <a:alpha val="60000"/>
                    </a:srgbClr>
                  </a:solidFill>
                  <a:latin typeface="Roboto"/>
                  <a:ea typeface="Roboto"/>
                  <a:cs typeface="Roboto"/>
                  <a:sym typeface="Roboto"/>
                </a:rPr>
                <a:t> ↓</a:t>
              </a:r>
            </a:p>
            <a:p>
              <a:pPr algn="ctr">
                <a:lnSpc>
                  <a:spcPts val="3500"/>
                </a:lnSpc>
              </a:pPr>
              <a:r>
                <a:rPr lang="en-US" sz="2500">
                  <a:solidFill>
                    <a:srgbClr val="000000">
                      <a:alpha val="60000"/>
                    </a:srgbClr>
                  </a:solidFill>
                  <a:latin typeface="Roboto"/>
                  <a:ea typeface="Roboto"/>
                  <a:cs typeface="Roboto"/>
                  <a:sym typeface="Roboto"/>
                </a:rPr>
                <a:t>Data Storage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502376" y="3589047"/>
            <a:ext cx="7240208" cy="5468809"/>
            <a:chOff x="0" y="0"/>
            <a:chExt cx="2101002" cy="158696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01002" cy="1586968"/>
            </a:xfrm>
            <a:custGeom>
              <a:avLst/>
              <a:gdLst/>
              <a:ahLst/>
              <a:cxnLst/>
              <a:rect r="r" b="b" t="t" l="l"/>
              <a:pathLst>
                <a:path h="1586968" w="2101002">
                  <a:moveTo>
                    <a:pt x="54534" y="0"/>
                  </a:moveTo>
                  <a:lnTo>
                    <a:pt x="2046468" y="0"/>
                  </a:lnTo>
                  <a:cubicBezTo>
                    <a:pt x="2076586" y="0"/>
                    <a:pt x="2101002" y="24416"/>
                    <a:pt x="2101002" y="54534"/>
                  </a:cubicBezTo>
                  <a:lnTo>
                    <a:pt x="2101002" y="1532434"/>
                  </a:lnTo>
                  <a:cubicBezTo>
                    <a:pt x="2101002" y="1562552"/>
                    <a:pt x="2076586" y="1586968"/>
                    <a:pt x="2046468" y="1586968"/>
                  </a:cubicBezTo>
                  <a:lnTo>
                    <a:pt x="54534" y="1586968"/>
                  </a:lnTo>
                  <a:cubicBezTo>
                    <a:pt x="24416" y="1586968"/>
                    <a:pt x="0" y="1562552"/>
                    <a:pt x="0" y="1532434"/>
                  </a:cubicBezTo>
                  <a:lnTo>
                    <a:pt x="0" y="54534"/>
                  </a:lnTo>
                  <a:cubicBezTo>
                    <a:pt x="0" y="24416"/>
                    <a:pt x="24416" y="0"/>
                    <a:pt x="54534" y="0"/>
                  </a:cubicBezTo>
                  <a:close/>
                </a:path>
              </a:pathLst>
            </a:custGeom>
            <a:solidFill>
              <a:srgbClr val="42525B">
                <a:alpha val="60000"/>
              </a:srgbClr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76200"/>
              <a:ext cx="2101002" cy="16631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920"/>
                </a:lnSpc>
              </a:pPr>
              <a:r>
                <a:rPr lang="en-US" sz="2800" b="true">
                  <a:solidFill>
                    <a:srgbClr val="000000">
                      <a:alpha val="60000"/>
                    </a:srgbClr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Banking Modules</a:t>
              </a:r>
            </a:p>
            <a:p>
              <a:pPr algn="l" marL="604523" indent="-302261" lvl="1">
                <a:lnSpc>
                  <a:spcPts val="3920"/>
                </a:lnSpc>
                <a:buFont typeface="Arial"/>
                <a:buChar char="•"/>
              </a:pPr>
              <a:r>
                <a:rPr lang="en-US" b="true" sz="2800">
                  <a:solidFill>
                    <a:srgbClr val="000000">
                      <a:alpha val="60000"/>
                    </a:srgbClr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Authentication</a:t>
              </a:r>
            </a:p>
            <a:p>
              <a:pPr algn="l" marL="604523" indent="-302261" lvl="1">
                <a:lnSpc>
                  <a:spcPts val="3920"/>
                </a:lnSpc>
                <a:buFont typeface="Arial"/>
                <a:buChar char="•"/>
              </a:pPr>
              <a:r>
                <a:rPr lang="en-US" b="true" sz="2800">
                  <a:solidFill>
                    <a:srgbClr val="000000">
                      <a:alpha val="60000"/>
                    </a:srgbClr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Accounts</a:t>
              </a:r>
            </a:p>
            <a:p>
              <a:pPr algn="l" marL="604523" indent="-302261" lvl="1">
                <a:lnSpc>
                  <a:spcPts val="3920"/>
                </a:lnSpc>
                <a:buFont typeface="Arial"/>
                <a:buChar char="•"/>
              </a:pPr>
              <a:r>
                <a:rPr lang="en-US" b="true" sz="2800">
                  <a:solidFill>
                    <a:srgbClr val="000000">
                      <a:alpha val="60000"/>
                    </a:srgbClr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Bank Transfer</a:t>
              </a:r>
            </a:p>
            <a:p>
              <a:pPr algn="l" marL="604523" indent="-302261" lvl="1">
                <a:lnSpc>
                  <a:spcPts val="3920"/>
                </a:lnSpc>
                <a:buFont typeface="Arial"/>
                <a:buChar char="•"/>
              </a:pPr>
              <a:r>
                <a:rPr lang="en-US" b="true" sz="2800">
                  <a:solidFill>
                    <a:srgbClr val="000000">
                      <a:alpha val="60000"/>
                    </a:srgbClr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Smart Spend</a:t>
              </a:r>
            </a:p>
            <a:p>
              <a:pPr algn="l" marL="604523" indent="-302261" lvl="1">
                <a:lnSpc>
                  <a:spcPts val="3920"/>
                </a:lnSpc>
                <a:buFont typeface="Arial"/>
                <a:buChar char="•"/>
              </a:pPr>
              <a:r>
                <a:rPr lang="en-US" b="true" sz="2800">
                  <a:solidFill>
                    <a:srgbClr val="000000">
                      <a:alpha val="60000"/>
                    </a:srgbClr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E-Statement</a:t>
              </a:r>
            </a:p>
            <a:p>
              <a:pPr algn="ctr">
                <a:lnSpc>
                  <a:spcPts val="3920"/>
                </a:lnSpc>
              </a:pP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51B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361288" y="2372581"/>
            <a:ext cx="17011089" cy="17011089"/>
          </a:xfrm>
          <a:custGeom>
            <a:avLst/>
            <a:gdLst/>
            <a:ahLst/>
            <a:cxnLst/>
            <a:rect r="r" b="b" t="t" l="l"/>
            <a:pathLst>
              <a:path h="17011089" w="17011089">
                <a:moveTo>
                  <a:pt x="0" y="0"/>
                </a:moveTo>
                <a:lnTo>
                  <a:pt x="17011089" y="0"/>
                </a:lnTo>
                <a:lnTo>
                  <a:pt x="17011089" y="17011089"/>
                </a:lnTo>
                <a:lnTo>
                  <a:pt x="0" y="1701108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936179" y="2372581"/>
            <a:ext cx="6500361" cy="6500361"/>
          </a:xfrm>
          <a:custGeom>
            <a:avLst/>
            <a:gdLst/>
            <a:ahLst/>
            <a:cxnLst/>
            <a:rect r="r" b="b" t="t" l="l"/>
            <a:pathLst>
              <a:path h="6500361" w="6500361">
                <a:moveTo>
                  <a:pt x="0" y="0"/>
                </a:moveTo>
                <a:lnTo>
                  <a:pt x="6500361" y="0"/>
                </a:lnTo>
                <a:lnTo>
                  <a:pt x="6500361" y="6500361"/>
                </a:lnTo>
                <a:lnTo>
                  <a:pt x="0" y="65003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18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8107955" y="-9492011"/>
            <a:ext cx="16376864" cy="16376864"/>
          </a:xfrm>
          <a:custGeom>
            <a:avLst/>
            <a:gdLst/>
            <a:ahLst/>
            <a:cxnLst/>
            <a:rect r="r" b="b" t="t" l="l"/>
            <a:pathLst>
              <a:path h="16376864" w="16376864">
                <a:moveTo>
                  <a:pt x="0" y="0"/>
                </a:moveTo>
                <a:lnTo>
                  <a:pt x="16376863" y="0"/>
                </a:lnTo>
                <a:lnTo>
                  <a:pt x="16376863" y="16376864"/>
                </a:lnTo>
                <a:lnTo>
                  <a:pt x="0" y="1637686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2433375" y="4906715"/>
            <a:ext cx="1285877" cy="1285877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FFFC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00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2578099" y="5142023"/>
            <a:ext cx="996429" cy="815260"/>
          </a:xfrm>
          <a:custGeom>
            <a:avLst/>
            <a:gdLst/>
            <a:ahLst/>
            <a:cxnLst/>
            <a:rect r="r" b="b" t="t" l="l"/>
            <a:pathLst>
              <a:path h="815260" w="996429">
                <a:moveTo>
                  <a:pt x="0" y="0"/>
                </a:moveTo>
                <a:lnTo>
                  <a:pt x="996429" y="0"/>
                </a:lnTo>
                <a:lnTo>
                  <a:pt x="996429" y="815260"/>
                </a:lnTo>
                <a:lnTo>
                  <a:pt x="0" y="81526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3960018" y="4906715"/>
            <a:ext cx="1285877" cy="1285877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FFFC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00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14208583" y="5277929"/>
            <a:ext cx="693497" cy="543449"/>
          </a:xfrm>
          <a:custGeom>
            <a:avLst/>
            <a:gdLst/>
            <a:ahLst/>
            <a:cxnLst/>
            <a:rect r="r" b="b" t="t" l="l"/>
            <a:pathLst>
              <a:path h="543449" w="693497">
                <a:moveTo>
                  <a:pt x="0" y="0"/>
                </a:moveTo>
                <a:lnTo>
                  <a:pt x="693497" y="0"/>
                </a:lnTo>
                <a:lnTo>
                  <a:pt x="693497" y="543449"/>
                </a:lnTo>
                <a:lnTo>
                  <a:pt x="0" y="54344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8237000" y="4928535"/>
            <a:ext cx="1285877" cy="1285877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FFFC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00"/>
                </a:lnSpc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8522002" y="5210915"/>
            <a:ext cx="715873" cy="721117"/>
          </a:xfrm>
          <a:custGeom>
            <a:avLst/>
            <a:gdLst/>
            <a:ahLst/>
            <a:cxnLst/>
            <a:rect r="r" b="b" t="t" l="l"/>
            <a:pathLst>
              <a:path h="721117" w="715873">
                <a:moveTo>
                  <a:pt x="0" y="0"/>
                </a:moveTo>
                <a:lnTo>
                  <a:pt x="715873" y="0"/>
                </a:lnTo>
                <a:lnTo>
                  <a:pt x="715873" y="721118"/>
                </a:lnTo>
                <a:lnTo>
                  <a:pt x="0" y="721118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3076314" y="1747435"/>
            <a:ext cx="9470384" cy="3159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076"/>
              </a:lnSpc>
            </a:pPr>
            <a:r>
              <a:rPr lang="en-US" sz="8592" spc="-223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Smart Navigation System</a:t>
            </a:r>
          </a:p>
          <a:p>
            <a:pPr algn="l">
              <a:lnSpc>
                <a:spcPts val="8076"/>
              </a:lnSpc>
            </a:pPr>
          </a:p>
        </p:txBody>
      </p:sp>
      <p:sp>
        <p:nvSpPr>
          <p:cNvPr name="TextBox 18" id="18"/>
          <p:cNvSpPr txBox="true"/>
          <p:nvPr/>
        </p:nvSpPr>
        <p:spPr>
          <a:xfrm rot="0">
            <a:off x="1512513" y="6291518"/>
            <a:ext cx="5403575" cy="12266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66"/>
              </a:lnSpc>
            </a:pPr>
            <a:r>
              <a:rPr lang="en-US" b="true" sz="2333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ANIMATED SEARCH COMPONENT</a:t>
            </a:r>
          </a:p>
          <a:p>
            <a:pPr algn="ctr" marL="503802" indent="-251901" lvl="1">
              <a:lnSpc>
                <a:spcPts val="3266"/>
              </a:lnSpc>
              <a:buFont typeface="Arial"/>
              <a:buChar char="•"/>
            </a:pPr>
          </a:p>
          <a:p>
            <a:pPr algn="ctr">
              <a:lnSpc>
                <a:spcPts val="3266"/>
              </a:lnSpc>
            </a:pPr>
          </a:p>
        </p:txBody>
      </p:sp>
      <p:sp>
        <p:nvSpPr>
          <p:cNvPr name="TextBox 19" id="19"/>
          <p:cNvSpPr txBox="true"/>
          <p:nvPr/>
        </p:nvSpPr>
        <p:spPr>
          <a:xfrm rot="0">
            <a:off x="1512513" y="6830272"/>
            <a:ext cx="5005694" cy="14289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6842" indent="-218421" lvl="1">
              <a:lnSpc>
                <a:spcPts val="2832"/>
              </a:lnSpc>
              <a:buFont typeface="Arial"/>
              <a:buChar char="•"/>
            </a:pPr>
            <a:r>
              <a:rPr lang="en-US" sz="2023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Expanding search box</a:t>
            </a:r>
          </a:p>
          <a:p>
            <a:pPr algn="l" marL="436842" indent="-218421" lvl="1">
              <a:lnSpc>
                <a:spcPts val="2832"/>
              </a:lnSpc>
              <a:buFont typeface="Arial"/>
              <a:buChar char="•"/>
            </a:pPr>
            <a:r>
              <a:rPr lang="en-US" sz="2023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Smooth Tailwind transitions</a:t>
            </a:r>
          </a:p>
          <a:p>
            <a:pPr algn="l" marL="436842" indent="-218421" lvl="1">
              <a:lnSpc>
                <a:spcPts val="2832"/>
              </a:lnSpc>
              <a:buFont typeface="Arial"/>
              <a:buChar char="•"/>
            </a:pPr>
            <a:r>
              <a:rPr lang="en-US" sz="2023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Rapid bank searching</a:t>
            </a:r>
          </a:p>
          <a:p>
            <a:pPr algn="l">
              <a:lnSpc>
                <a:spcPts val="2832"/>
              </a:lnSpc>
            </a:pPr>
          </a:p>
        </p:txBody>
      </p:sp>
      <p:sp>
        <p:nvSpPr>
          <p:cNvPr name="TextBox 20" id="20"/>
          <p:cNvSpPr txBox="true"/>
          <p:nvPr/>
        </p:nvSpPr>
        <p:spPr>
          <a:xfrm rot="0">
            <a:off x="7316137" y="6313339"/>
            <a:ext cx="4760755" cy="12266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66"/>
              </a:lnSpc>
            </a:pPr>
            <a:r>
              <a:rPr lang="en-US" b="true" sz="2333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NOTIFICATION MANAGEMENT</a:t>
            </a:r>
          </a:p>
          <a:p>
            <a:pPr algn="ctr" marL="503802" indent="-251901" lvl="1">
              <a:lnSpc>
                <a:spcPts val="3266"/>
              </a:lnSpc>
              <a:buFont typeface="Arial"/>
              <a:buChar char="•"/>
            </a:pPr>
          </a:p>
          <a:p>
            <a:pPr algn="ctr">
              <a:lnSpc>
                <a:spcPts val="3266"/>
              </a:lnSpc>
            </a:pPr>
          </a:p>
        </p:txBody>
      </p:sp>
      <p:sp>
        <p:nvSpPr>
          <p:cNvPr name="TextBox 21" id="21"/>
          <p:cNvSpPr txBox="true"/>
          <p:nvPr/>
        </p:nvSpPr>
        <p:spPr>
          <a:xfrm rot="0">
            <a:off x="7142736" y="6830272"/>
            <a:ext cx="5711722" cy="20284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8456" indent="-249228" lvl="1">
              <a:lnSpc>
                <a:spcPts val="3232"/>
              </a:lnSpc>
              <a:buFont typeface="Arial"/>
              <a:buChar char="•"/>
            </a:pPr>
            <a:r>
              <a:rPr lang="en-US" sz="2308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Dropdown auto-collapse mechanism</a:t>
            </a:r>
          </a:p>
          <a:p>
            <a:pPr algn="l" marL="498456" indent="-249228" lvl="1">
              <a:lnSpc>
                <a:spcPts val="3232"/>
              </a:lnSpc>
              <a:buFont typeface="Arial"/>
              <a:buChar char="•"/>
            </a:pPr>
            <a:r>
              <a:rPr lang="en-US" sz="2308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Prevents UI conflicts</a:t>
            </a:r>
          </a:p>
          <a:p>
            <a:pPr algn="l">
              <a:lnSpc>
                <a:spcPts val="3232"/>
              </a:lnSpc>
            </a:pPr>
          </a:p>
          <a:p>
            <a:pPr algn="l">
              <a:lnSpc>
                <a:spcPts val="3232"/>
              </a:lnSpc>
            </a:pPr>
          </a:p>
          <a:p>
            <a:pPr algn="l">
              <a:lnSpc>
                <a:spcPts val="3232"/>
              </a:lnSpc>
            </a:pPr>
          </a:p>
        </p:txBody>
      </p:sp>
      <p:sp>
        <p:nvSpPr>
          <p:cNvPr name="TextBox 22" id="22"/>
          <p:cNvSpPr txBox="true"/>
          <p:nvPr/>
        </p:nvSpPr>
        <p:spPr>
          <a:xfrm rot="0">
            <a:off x="13031690" y="6291518"/>
            <a:ext cx="4404849" cy="12266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66"/>
              </a:lnSpc>
            </a:pPr>
            <a:r>
              <a:rPr lang="en-US" b="true" sz="2333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PROFILE AVATAR ISOLATION</a:t>
            </a:r>
          </a:p>
          <a:p>
            <a:pPr algn="ctr" marL="503802" indent="-251901" lvl="1">
              <a:lnSpc>
                <a:spcPts val="3266"/>
              </a:lnSpc>
              <a:buFont typeface="Arial"/>
              <a:buChar char="•"/>
            </a:pPr>
          </a:p>
          <a:p>
            <a:pPr algn="ctr">
              <a:lnSpc>
                <a:spcPts val="3266"/>
              </a:lnSpc>
            </a:pPr>
          </a:p>
        </p:txBody>
      </p:sp>
      <p:sp>
        <p:nvSpPr>
          <p:cNvPr name="TextBox 23" id="23"/>
          <p:cNvSpPr txBox="true"/>
          <p:nvPr/>
        </p:nvSpPr>
        <p:spPr>
          <a:xfrm rot="0">
            <a:off x="13081107" y="6839797"/>
            <a:ext cx="4793021" cy="1161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5980" indent="-237990" lvl="1">
              <a:lnSpc>
                <a:spcPts val="3086"/>
              </a:lnSpc>
              <a:buFont typeface="Arial"/>
              <a:buChar char="•"/>
            </a:pPr>
            <a:r>
              <a:rPr lang="en-US" sz="2204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Independent component structure</a:t>
            </a:r>
          </a:p>
          <a:p>
            <a:pPr algn="l" marL="475980" indent="-237990" lvl="1">
              <a:lnSpc>
                <a:spcPts val="3086"/>
              </a:lnSpc>
              <a:buFont typeface="Arial"/>
              <a:buChar char="•"/>
            </a:pPr>
            <a:r>
              <a:rPr lang="en-US" sz="2204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Easy future feature integration</a:t>
            </a:r>
          </a:p>
          <a:p>
            <a:pPr algn="l">
              <a:lnSpc>
                <a:spcPts val="3086"/>
              </a:lnSpc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51B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986739" y="-4800178"/>
            <a:ext cx="8899739" cy="8899739"/>
          </a:xfrm>
          <a:custGeom>
            <a:avLst/>
            <a:gdLst/>
            <a:ahLst/>
            <a:cxnLst/>
            <a:rect r="r" b="b" t="t" l="l"/>
            <a:pathLst>
              <a:path h="8899739" w="8899739">
                <a:moveTo>
                  <a:pt x="0" y="0"/>
                </a:moveTo>
                <a:lnTo>
                  <a:pt x="8899739" y="0"/>
                </a:lnTo>
                <a:lnTo>
                  <a:pt x="8899739" y="8899738"/>
                </a:lnTo>
                <a:lnTo>
                  <a:pt x="0" y="88997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697147" y="4171690"/>
            <a:ext cx="10173221" cy="10173221"/>
          </a:xfrm>
          <a:custGeom>
            <a:avLst/>
            <a:gdLst/>
            <a:ahLst/>
            <a:cxnLst/>
            <a:rect r="r" b="b" t="t" l="l"/>
            <a:pathLst>
              <a:path h="10173221" w="10173221">
                <a:moveTo>
                  <a:pt x="0" y="0"/>
                </a:moveTo>
                <a:lnTo>
                  <a:pt x="10173221" y="0"/>
                </a:lnTo>
                <a:lnTo>
                  <a:pt x="10173221" y="10173220"/>
                </a:lnTo>
                <a:lnTo>
                  <a:pt x="0" y="101732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12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753756" y="1276985"/>
            <a:ext cx="17011089" cy="17011089"/>
          </a:xfrm>
          <a:custGeom>
            <a:avLst/>
            <a:gdLst/>
            <a:ahLst/>
            <a:cxnLst/>
            <a:rect r="r" b="b" t="t" l="l"/>
            <a:pathLst>
              <a:path h="17011089" w="17011089">
                <a:moveTo>
                  <a:pt x="0" y="0"/>
                </a:moveTo>
                <a:lnTo>
                  <a:pt x="17011088" y="0"/>
                </a:lnTo>
                <a:lnTo>
                  <a:pt x="17011088" y="17011089"/>
                </a:lnTo>
                <a:lnTo>
                  <a:pt x="0" y="1701108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1422364" y="3840623"/>
            <a:ext cx="5119908" cy="4658406"/>
          </a:xfrm>
          <a:custGeom>
            <a:avLst/>
            <a:gdLst/>
            <a:ahLst/>
            <a:cxnLst/>
            <a:rect r="r" b="b" t="t" l="l"/>
            <a:pathLst>
              <a:path h="4658406" w="5119908">
                <a:moveTo>
                  <a:pt x="0" y="0"/>
                </a:moveTo>
                <a:lnTo>
                  <a:pt x="5119908" y="0"/>
                </a:lnTo>
                <a:lnTo>
                  <a:pt x="5119908" y="4658405"/>
                </a:lnTo>
                <a:lnTo>
                  <a:pt x="0" y="465840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792590" y="5579975"/>
            <a:ext cx="2972812" cy="2948262"/>
          </a:xfrm>
          <a:custGeom>
            <a:avLst/>
            <a:gdLst/>
            <a:ahLst/>
            <a:cxnLst/>
            <a:rect r="r" b="b" t="t" l="l"/>
            <a:pathLst>
              <a:path h="2948262" w="2972812">
                <a:moveTo>
                  <a:pt x="0" y="0"/>
                </a:moveTo>
                <a:lnTo>
                  <a:pt x="2972812" y="0"/>
                </a:lnTo>
                <a:lnTo>
                  <a:pt x="2972812" y="2948261"/>
                </a:lnTo>
                <a:lnTo>
                  <a:pt x="0" y="294826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521648" y="1162050"/>
            <a:ext cx="9470384" cy="14297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51"/>
              </a:lnSpc>
            </a:pPr>
            <a:r>
              <a:rPr lang="en-US" sz="5799" spc="-150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Team Development Activities</a:t>
            </a:r>
          </a:p>
          <a:p>
            <a:pPr algn="l">
              <a:lnSpc>
                <a:spcPts val="5451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1161895" y="2515616"/>
            <a:ext cx="9942799" cy="7055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39"/>
              </a:lnSpc>
              <a:spcBef>
                <a:spcPct val="0"/>
              </a:spcBef>
            </a:pPr>
            <a:r>
              <a:rPr lang="en-US" sz="3099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Authenticati</a:t>
            </a:r>
            <a:r>
              <a:rPr lang="en-US" sz="3099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on Module</a:t>
            </a:r>
          </a:p>
          <a:p>
            <a:pPr algn="l" marL="669197" indent="-334599" lvl="1">
              <a:lnSpc>
                <a:spcPts val="4339"/>
              </a:lnSpc>
              <a:spcBef>
                <a:spcPct val="0"/>
              </a:spcBef>
              <a:buFont typeface="Arial"/>
              <a:buChar char="•"/>
            </a:pPr>
            <a:r>
              <a:rPr lang="en-US" sz="3099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Login UI development</a:t>
            </a:r>
          </a:p>
          <a:p>
            <a:pPr algn="l">
              <a:lnSpc>
                <a:spcPts val="4339"/>
              </a:lnSpc>
              <a:spcBef>
                <a:spcPct val="0"/>
              </a:spcBef>
            </a:pPr>
            <a:r>
              <a:rPr lang="en-US" sz="3099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Navigation Framework</a:t>
            </a:r>
          </a:p>
          <a:p>
            <a:pPr algn="l" marL="669197" indent="-334599" lvl="1">
              <a:lnSpc>
                <a:spcPts val="4339"/>
              </a:lnSpc>
              <a:spcBef>
                <a:spcPct val="0"/>
              </a:spcBef>
              <a:buFont typeface="Arial"/>
              <a:buChar char="•"/>
            </a:pPr>
            <a:r>
              <a:rPr lang="en-US" sz="3099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Sidebar implementation</a:t>
            </a:r>
          </a:p>
          <a:p>
            <a:pPr algn="l" marL="669197" indent="-334599" lvl="1">
              <a:lnSpc>
                <a:spcPts val="4339"/>
              </a:lnSpc>
              <a:spcBef>
                <a:spcPct val="0"/>
              </a:spcBef>
              <a:buFont typeface="Arial"/>
              <a:buChar char="•"/>
            </a:pPr>
            <a:r>
              <a:rPr lang="en-US" sz="3099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Home &amp; Logout actions</a:t>
            </a:r>
          </a:p>
          <a:p>
            <a:pPr algn="l">
              <a:lnSpc>
                <a:spcPts val="4339"/>
              </a:lnSpc>
              <a:spcBef>
                <a:spcPct val="0"/>
              </a:spcBef>
            </a:pPr>
            <a:r>
              <a:rPr lang="en-US" sz="3099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Bank Transfer Module</a:t>
            </a:r>
          </a:p>
          <a:p>
            <a:pPr algn="l" marL="669197" indent="-334599" lvl="1">
              <a:lnSpc>
                <a:spcPts val="4339"/>
              </a:lnSpc>
              <a:spcBef>
                <a:spcPct val="0"/>
              </a:spcBef>
              <a:buFont typeface="Arial"/>
              <a:buChar char="•"/>
            </a:pPr>
            <a:r>
              <a:rPr lang="en-US" sz="3099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Secure transfer workflow</a:t>
            </a:r>
          </a:p>
          <a:p>
            <a:pPr algn="l">
              <a:lnSpc>
                <a:spcPts val="4339"/>
              </a:lnSpc>
              <a:spcBef>
                <a:spcPct val="0"/>
              </a:spcBef>
            </a:pPr>
            <a:r>
              <a:rPr lang="en-US" sz="3099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Accounts Module</a:t>
            </a:r>
          </a:p>
          <a:p>
            <a:pPr algn="l" marL="669197" indent="-334599" lvl="1">
              <a:lnSpc>
                <a:spcPts val="4339"/>
              </a:lnSpc>
              <a:spcBef>
                <a:spcPct val="0"/>
              </a:spcBef>
              <a:buFont typeface="Arial"/>
              <a:buChar char="•"/>
            </a:pPr>
            <a:r>
              <a:rPr lang="en-US" sz="3099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Routing corrections</a:t>
            </a:r>
          </a:p>
          <a:p>
            <a:pPr algn="l" marL="669197" indent="-334599" lvl="1">
              <a:lnSpc>
                <a:spcPts val="4339"/>
              </a:lnSpc>
              <a:spcBef>
                <a:spcPct val="0"/>
              </a:spcBef>
              <a:buFont typeface="Arial"/>
              <a:buChar char="•"/>
            </a:pPr>
            <a:r>
              <a:rPr lang="en-US" sz="3099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Navigation improvements</a:t>
            </a:r>
          </a:p>
          <a:p>
            <a:pPr algn="l">
              <a:lnSpc>
                <a:spcPts val="4339"/>
              </a:lnSpc>
              <a:spcBef>
                <a:spcPct val="0"/>
              </a:spcBef>
            </a:pPr>
            <a:r>
              <a:rPr lang="en-US" sz="3099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Smart Spend Analytics</a:t>
            </a:r>
          </a:p>
          <a:p>
            <a:pPr algn="l" marL="669197" indent="-334599" lvl="1">
              <a:lnSpc>
                <a:spcPts val="4339"/>
              </a:lnSpc>
              <a:spcBef>
                <a:spcPct val="0"/>
              </a:spcBef>
              <a:buFont typeface="Arial"/>
              <a:buChar char="•"/>
            </a:pPr>
            <a:r>
              <a:rPr lang="en-US" sz="3099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Performance optimization</a:t>
            </a:r>
          </a:p>
          <a:p>
            <a:pPr algn="l">
              <a:lnSpc>
                <a:spcPts val="433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51B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407215" y="1162050"/>
            <a:ext cx="9470384" cy="14297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51"/>
              </a:lnSpc>
            </a:pPr>
            <a:r>
              <a:rPr lang="en-US" sz="5799" spc="-150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Team Development Activities</a:t>
            </a:r>
          </a:p>
          <a:p>
            <a:pPr algn="l">
              <a:lnSpc>
                <a:spcPts val="5451"/>
              </a:lnSpc>
            </a:pP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8753756" y="1276985"/>
            <a:ext cx="17011089" cy="17011089"/>
          </a:xfrm>
          <a:custGeom>
            <a:avLst/>
            <a:gdLst/>
            <a:ahLst/>
            <a:cxnLst/>
            <a:rect r="r" b="b" t="t" l="l"/>
            <a:pathLst>
              <a:path h="17011089" w="17011089">
                <a:moveTo>
                  <a:pt x="0" y="0"/>
                </a:moveTo>
                <a:lnTo>
                  <a:pt x="17011088" y="0"/>
                </a:lnTo>
                <a:lnTo>
                  <a:pt x="17011088" y="17011089"/>
                </a:lnTo>
                <a:lnTo>
                  <a:pt x="0" y="1701108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2986739" y="-4800178"/>
            <a:ext cx="8899739" cy="8899739"/>
          </a:xfrm>
          <a:custGeom>
            <a:avLst/>
            <a:gdLst/>
            <a:ahLst/>
            <a:cxnLst/>
            <a:rect r="r" b="b" t="t" l="l"/>
            <a:pathLst>
              <a:path h="8899739" w="8899739">
                <a:moveTo>
                  <a:pt x="0" y="0"/>
                </a:moveTo>
                <a:lnTo>
                  <a:pt x="8899739" y="0"/>
                </a:lnTo>
                <a:lnTo>
                  <a:pt x="8899739" y="8899738"/>
                </a:lnTo>
                <a:lnTo>
                  <a:pt x="0" y="88997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994426" y="3300194"/>
            <a:ext cx="9470384" cy="6482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48"/>
              </a:lnSpc>
            </a:pPr>
            <a:r>
              <a:rPr lang="en-US" sz="4200" spc="-109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Accounts Module 404 Error</a:t>
            </a:r>
          </a:p>
          <a:p>
            <a:pPr algn="l">
              <a:lnSpc>
                <a:spcPts val="3948"/>
              </a:lnSpc>
            </a:pPr>
          </a:p>
          <a:p>
            <a:pPr algn="l">
              <a:lnSpc>
                <a:spcPts val="3948"/>
              </a:lnSpc>
            </a:pPr>
            <a:r>
              <a:rPr lang="en-US" sz="4200" spc="-109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Problem:</a:t>
            </a:r>
          </a:p>
          <a:p>
            <a:pPr algn="l" marL="906786" indent="-453393" lvl="1">
              <a:lnSpc>
                <a:spcPts val="3948"/>
              </a:lnSpc>
              <a:buFont typeface="Arial"/>
              <a:buChar char="•"/>
            </a:pPr>
            <a:r>
              <a:rPr lang="en-US" sz="4200" spc="-109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Users could not access Accounts page</a:t>
            </a:r>
          </a:p>
          <a:p>
            <a:pPr algn="l" marL="906786" indent="-453393" lvl="1">
              <a:lnSpc>
                <a:spcPts val="3948"/>
              </a:lnSpc>
              <a:buFont typeface="Arial"/>
              <a:buChar char="•"/>
            </a:pPr>
            <a:r>
              <a:rPr lang="en-US" sz="4200" spc="-109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Navigation failed</a:t>
            </a:r>
          </a:p>
          <a:p>
            <a:pPr algn="l" marL="906786" indent="-453393" lvl="1">
              <a:lnSpc>
                <a:spcPts val="3948"/>
              </a:lnSpc>
              <a:buFont typeface="Arial"/>
              <a:buChar char="•"/>
            </a:pPr>
          </a:p>
          <a:p>
            <a:pPr algn="l">
              <a:lnSpc>
                <a:spcPts val="3948"/>
              </a:lnSpc>
            </a:pPr>
            <a:r>
              <a:rPr lang="en-US" sz="4200" spc="-109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Solution:</a:t>
            </a:r>
          </a:p>
          <a:p>
            <a:pPr algn="l" marL="906786" indent="-453393" lvl="1">
              <a:lnSpc>
                <a:spcPts val="3948"/>
              </a:lnSpc>
              <a:buFont typeface="Arial"/>
              <a:buChar char="•"/>
            </a:pPr>
            <a:r>
              <a:rPr lang="en-US" sz="4200" spc="-109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Traced routing configuration</a:t>
            </a:r>
          </a:p>
          <a:p>
            <a:pPr algn="l" marL="906786" indent="-453393" lvl="1">
              <a:lnSpc>
                <a:spcPts val="3948"/>
              </a:lnSpc>
              <a:buFont typeface="Arial"/>
              <a:buChar char="•"/>
            </a:pPr>
            <a:r>
              <a:rPr lang="en-US" sz="4200" spc="-109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Updated application navigation path</a:t>
            </a:r>
          </a:p>
          <a:p>
            <a:pPr algn="l" marL="906786" indent="-453393" lvl="1">
              <a:lnSpc>
                <a:spcPts val="3948"/>
              </a:lnSpc>
              <a:buFont typeface="Arial"/>
              <a:buChar char="•"/>
            </a:pPr>
            <a:r>
              <a:rPr lang="en-US" sz="4200" spc="-109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Fixed endpoint mapping</a:t>
            </a:r>
          </a:p>
          <a:p>
            <a:pPr algn="l">
              <a:lnSpc>
                <a:spcPts val="3948"/>
              </a:lnSpc>
            </a:pPr>
          </a:p>
          <a:p>
            <a:pPr algn="l">
              <a:lnSpc>
                <a:spcPts val="3948"/>
              </a:lnSpc>
            </a:pP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51B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8107955" y="-9492011"/>
            <a:ext cx="16376864" cy="16376864"/>
          </a:xfrm>
          <a:custGeom>
            <a:avLst/>
            <a:gdLst/>
            <a:ahLst/>
            <a:cxnLst/>
            <a:rect r="r" b="b" t="t" l="l"/>
            <a:pathLst>
              <a:path h="16376864" w="16376864">
                <a:moveTo>
                  <a:pt x="0" y="0"/>
                </a:moveTo>
                <a:lnTo>
                  <a:pt x="16376863" y="0"/>
                </a:lnTo>
                <a:lnTo>
                  <a:pt x="16376863" y="16376864"/>
                </a:lnTo>
                <a:lnTo>
                  <a:pt x="0" y="16376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4685458" y="869176"/>
            <a:ext cx="17011089" cy="17011089"/>
          </a:xfrm>
          <a:custGeom>
            <a:avLst/>
            <a:gdLst/>
            <a:ahLst/>
            <a:cxnLst/>
            <a:rect r="r" b="b" t="t" l="l"/>
            <a:pathLst>
              <a:path h="17011089" w="17011089">
                <a:moveTo>
                  <a:pt x="0" y="0"/>
                </a:moveTo>
                <a:lnTo>
                  <a:pt x="17011089" y="0"/>
                </a:lnTo>
                <a:lnTo>
                  <a:pt x="17011089" y="17011089"/>
                </a:lnTo>
                <a:lnTo>
                  <a:pt x="0" y="1701108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864688" y="2001366"/>
            <a:ext cx="14558625" cy="5082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80"/>
              </a:lnSpc>
              <a:spcBef>
                <a:spcPct val="0"/>
              </a:spcBef>
            </a:pPr>
            <a:r>
              <a:rPr lang="en-US" b="true" sz="6414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C</a:t>
            </a:r>
            <a:r>
              <a:rPr lang="en-US" b="true" sz="6414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onclusion</a:t>
            </a:r>
          </a:p>
          <a:p>
            <a:pPr algn="l">
              <a:lnSpc>
                <a:spcPts val="4490"/>
              </a:lnSpc>
              <a:spcBef>
                <a:spcPct val="0"/>
              </a:spcBef>
            </a:pPr>
            <a:r>
              <a:rPr lang="en-US" sz="3207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NOVA-X successfully delivers a modern digital banking experience by combining:</a:t>
            </a:r>
          </a:p>
          <a:p>
            <a:pPr algn="l" marL="692481" indent="-346240" lvl="1">
              <a:lnSpc>
                <a:spcPts val="4490"/>
              </a:lnSpc>
              <a:spcBef>
                <a:spcPct val="0"/>
              </a:spcBef>
              <a:buFont typeface="Arial"/>
              <a:buChar char="•"/>
            </a:pPr>
            <a:r>
              <a:rPr lang="en-US" sz="3207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Secure Banking Operations</a:t>
            </a:r>
          </a:p>
          <a:p>
            <a:pPr algn="l" marL="692481" indent="-346240" lvl="1">
              <a:lnSpc>
                <a:spcPts val="4490"/>
              </a:lnSpc>
              <a:spcBef>
                <a:spcPct val="0"/>
              </a:spcBef>
              <a:buFont typeface="Arial"/>
              <a:buChar char="•"/>
            </a:pPr>
            <a:r>
              <a:rPr lang="en-US" sz="3207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Smart Navigation</a:t>
            </a:r>
          </a:p>
          <a:p>
            <a:pPr algn="l" marL="692481" indent="-346240" lvl="1">
              <a:lnSpc>
                <a:spcPts val="4490"/>
              </a:lnSpc>
              <a:spcBef>
                <a:spcPct val="0"/>
              </a:spcBef>
              <a:buFont typeface="Arial"/>
              <a:buChar char="•"/>
            </a:pPr>
            <a:r>
              <a:rPr lang="en-US" sz="3207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Financial Management</a:t>
            </a:r>
          </a:p>
          <a:p>
            <a:pPr algn="l" marL="692481" indent="-346240" lvl="1">
              <a:lnSpc>
                <a:spcPts val="4490"/>
              </a:lnSpc>
              <a:spcBef>
                <a:spcPct val="0"/>
              </a:spcBef>
              <a:buFont typeface="Arial"/>
              <a:buChar char="•"/>
            </a:pPr>
            <a:r>
              <a:rPr lang="en-US" sz="3207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Scalable Architecture</a:t>
            </a:r>
          </a:p>
          <a:p>
            <a:pPr algn="l" marL="692481" indent="-346240" lvl="1">
              <a:lnSpc>
                <a:spcPts val="4490"/>
              </a:lnSpc>
              <a:spcBef>
                <a:spcPct val="0"/>
              </a:spcBef>
              <a:buFont typeface="Arial"/>
              <a:buChar char="•"/>
            </a:pPr>
            <a:r>
              <a:rPr lang="en-US" sz="3207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User-Centered Design</a:t>
            </a:r>
          </a:p>
          <a:p>
            <a:pPr algn="ctr">
              <a:lnSpc>
                <a:spcPts val="449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51B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361288" y="2372581"/>
            <a:ext cx="17011089" cy="17011089"/>
          </a:xfrm>
          <a:custGeom>
            <a:avLst/>
            <a:gdLst/>
            <a:ahLst/>
            <a:cxnLst/>
            <a:rect r="r" b="b" t="t" l="l"/>
            <a:pathLst>
              <a:path h="17011089" w="17011089">
                <a:moveTo>
                  <a:pt x="0" y="0"/>
                </a:moveTo>
                <a:lnTo>
                  <a:pt x="17011089" y="0"/>
                </a:lnTo>
                <a:lnTo>
                  <a:pt x="17011089" y="17011089"/>
                </a:lnTo>
                <a:lnTo>
                  <a:pt x="0" y="1701108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697147" y="2378512"/>
            <a:ext cx="6500361" cy="6500361"/>
          </a:xfrm>
          <a:custGeom>
            <a:avLst/>
            <a:gdLst/>
            <a:ahLst/>
            <a:cxnLst/>
            <a:rect r="r" b="b" t="t" l="l"/>
            <a:pathLst>
              <a:path h="6500361" w="6500361">
                <a:moveTo>
                  <a:pt x="0" y="0"/>
                </a:moveTo>
                <a:lnTo>
                  <a:pt x="6500361" y="0"/>
                </a:lnTo>
                <a:lnTo>
                  <a:pt x="6500361" y="6500360"/>
                </a:lnTo>
                <a:lnTo>
                  <a:pt x="0" y="650036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18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8107955" y="-9492011"/>
            <a:ext cx="16376864" cy="16376864"/>
          </a:xfrm>
          <a:custGeom>
            <a:avLst/>
            <a:gdLst/>
            <a:ahLst/>
            <a:cxnLst/>
            <a:rect r="r" b="b" t="t" l="l"/>
            <a:pathLst>
              <a:path h="16376864" w="16376864">
                <a:moveTo>
                  <a:pt x="0" y="0"/>
                </a:moveTo>
                <a:lnTo>
                  <a:pt x="16376863" y="0"/>
                </a:lnTo>
                <a:lnTo>
                  <a:pt x="16376863" y="16376864"/>
                </a:lnTo>
                <a:lnTo>
                  <a:pt x="0" y="1637686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817433">
            <a:off x="9760280" y="3433102"/>
            <a:ext cx="7548378" cy="4236527"/>
          </a:xfrm>
          <a:custGeom>
            <a:avLst/>
            <a:gdLst/>
            <a:ahLst/>
            <a:cxnLst/>
            <a:rect r="r" b="b" t="t" l="l"/>
            <a:pathLst>
              <a:path h="4236527" w="7548378">
                <a:moveTo>
                  <a:pt x="0" y="0"/>
                </a:moveTo>
                <a:lnTo>
                  <a:pt x="7548378" y="0"/>
                </a:lnTo>
                <a:lnTo>
                  <a:pt x="7548378" y="4236528"/>
                </a:lnTo>
                <a:lnTo>
                  <a:pt x="0" y="423652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512513" y="2572606"/>
            <a:ext cx="9470384" cy="21340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076"/>
              </a:lnSpc>
            </a:pPr>
            <a:r>
              <a:rPr lang="en-US" sz="8592" spc="-223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Thank You For Watching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854886" y="5494216"/>
            <a:ext cx="3004066" cy="431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  <a:spcBef>
                <a:spcPct val="0"/>
              </a:spcBef>
            </a:pPr>
            <a:r>
              <a:rPr lang="en-US" sz="2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Questi</a:t>
            </a:r>
            <a:r>
              <a:rPr lang="en-US" sz="2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ons &amp; Answers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DAHNDa9IsnM</dc:identifier>
  <dcterms:modified xsi:type="dcterms:W3CDTF">2011-08-01T06:04:30Z</dcterms:modified>
  <cp:revision>1</cp:revision>
  <dc:title>Smart Spend</dc:title>
</cp:coreProperties>
</file>